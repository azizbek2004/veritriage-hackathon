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The agent proposes. The verifier proves. The human signs. VeriTriage is the proof layer that makes agentic AML triage deployable.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The bank has alerts. The bottleneck is the defensible dossier before the statutory clock. That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Four steps: agent, verifier, override, human. The verifier is pure C#, zero LLM tokens, five gates, fail-closed.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The graph is not decoration. It differentiates the complicit mule hub from the compromised victim. Eight mule hubs, eight rings, fifteen taken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This is the money-flow DAG. It reconstructs 16 accounts and 16 transfers, with 301,846 CZK outflow and five sub-threshold transfers. The point is the path, not a single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Deep analysis is 4.9 milliseconds, zero tokens: 397,853 rows, 1.71x velocity, 13 sub-threshold transfers, priority 96. The brief is generated from the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The output is a dossier: 4-eyes enforced server-side, legal citations, audit chain, real P-256 signature. The model never signs; the MLRO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20s: Live now: 397,853-row ledger, 4.9ms deep analysis, 72/72 tests, balanced topology, exact CSV, real P-256 signatures. Ask: two pilot PSPs and FINREG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VERITRIAGE / FINREG TRACK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NORTH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VeriTriage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The proof layer for
regulated banking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87168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CDE8DA"/>
                </a:solidFill>
                <a:latin typeface="Aptos"/>
              </a:rPr>
              <a:t>The agent proposes. The verifier proves. The human signs.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30752"/>
            <a:ext cx="3456432" cy="1691640"/>
          </a:xfrm>
          <a:prstGeom prst="roundRect">
            <a:avLst>
              <a:gd name="adj" fmla="val 4000"/>
            </a:avLst>
          </a:prstGeom>
          <a:solidFill>
            <a:srgbClr val="103227"/>
          </a:solidFill>
          <a:ln w="10160">
            <a:solidFill>
              <a:srgbClr val="2A5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9136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FD8B9"/>
                </a:solidFill>
                <a:latin typeface="Consolas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22452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Bedrock gathers evidence and proposes a disposition.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730752"/>
            <a:ext cx="3456432" cy="1691640"/>
          </a:xfrm>
          <a:prstGeom prst="roundRect">
            <a:avLst>
              <a:gd name="adj" fmla="val 4000"/>
            </a:avLst>
          </a:prstGeom>
          <a:solidFill>
            <a:srgbClr val="103227"/>
          </a:solidFill>
          <a:ln w="10160">
            <a:solidFill>
              <a:srgbClr val="2A5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39136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FD8B9"/>
                </a:solidFill>
                <a:latin typeface="Consolas"/>
              </a:rPr>
              <a:t>VERIFIER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422452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C# recomputes every number and statutory 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730752"/>
            <a:ext cx="3456432" cy="1691640"/>
          </a:xfrm>
          <a:prstGeom prst="roundRect">
            <a:avLst>
              <a:gd name="adj" fmla="val 4000"/>
            </a:avLst>
          </a:prstGeom>
          <a:solidFill>
            <a:srgbClr val="103227"/>
          </a:solidFill>
          <a:ln w="10160">
            <a:solidFill>
              <a:srgbClr val="2A5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39136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FD8B9"/>
                </a:solidFill>
                <a:latin typeface="Consolas"/>
              </a:rPr>
              <a:t>HUMAN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422452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The MLRO signs the proof receipt.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79592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FD8B9"/>
                </a:solidFill>
                <a:latin typeface="Consolas"/>
              </a:rPr>
              <a:t>397,853 ČNB rows · 72/72 tests · 4.9ms deep analysis · R 0.20 hero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5879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FD8B9"/>
                </a:solidFill>
                <a:latin typeface="Consola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Aptos"/>
              </a:rPr>
              <a:t>The bottleneck is proof, not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F65"/>
                </a:solidFill>
                <a:latin typeface="Aptos"/>
              </a:rPr>
              <a:t>A mid-size PSP already has alerts. It does not have a defensible dossier in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5681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Consolas"/>
              </a:rPr>
              <a:t>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420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C6F65"/>
                </a:solidFill>
                <a:latin typeface="Consolas"/>
              </a:rPr>
              <a:t>ALERTS /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95681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Consolas"/>
              </a:rPr>
              <a:t>23.5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5420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C6F65"/>
                </a:solidFill>
                <a:latin typeface="Consolas"/>
              </a:rPr>
              <a:t>FTE ANALYSTS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83080"/>
            <a:ext cx="3456432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956816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Consolas"/>
              </a:rPr>
              <a:t>€1.16M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5420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C6F65"/>
                </a:solidFill>
                <a:latin typeface="Consolas"/>
              </a:rPr>
              <a:t>WASTED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THE REAL CLOCK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3840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14231C"/>
                </a:solidFill>
                <a:latin typeface="Aptos"/>
              </a:rPr>
              <a:t>PSR Art. 83 / 55–56 and AML § 20 create bounded freeze and postponement windows.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14231C"/>
                </a:solidFill>
                <a:latin typeface="Aptos"/>
              </a:rPr>
              <a:t>Missing the window means eating the loss — or explaining it to the ČNB.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 i="0">
                <a:solidFill>
                  <a:srgbClr val="17624B"/>
                </a:solidFill>
                <a:latin typeface="Aptos"/>
              </a:rPr>
              <a:t>The work is re-building the same story from CSV, registries and PDFs.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566160"/>
            <a:ext cx="6766560" cy="2148840"/>
          </a:xfrm>
          <a:prstGeom prst="roundRect">
            <a:avLst>
              <a:gd name="adj" fmla="val 4000"/>
            </a:avLst>
          </a:prstGeom>
          <a:solidFill>
            <a:srgbClr val="0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377647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FD8B9"/>
                </a:solidFill>
                <a:latin typeface="Consolas"/>
              </a:rPr>
              <a:t>WHAT THE BANK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096512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One reproducible answer:
why this alert, which evidence, which statute, who signed.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5166360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DE8DA"/>
                </a:solidFill>
                <a:latin typeface="Consolas"/>
              </a:rPr>
              <a:t>Not another black-box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473952"/>
            <a:ext cx="10972800" cy="9144"/>
          </a:xfrm>
          <a:prstGeom prst="roundRect">
            <a:avLst>
              <a:gd name="adj" fmla="val 4000"/>
            </a:avLst>
          </a:prstGeom>
          <a:solidFill>
            <a:srgbClr val="D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VERITRIAGE · THE FINTECHERS · TRACK 5 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2881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02 /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Aptos"/>
              </a:rPr>
              <a:t>Four steps. One auditable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F65"/>
                </a:solidFill>
                <a:latin typeface="Aptos"/>
              </a:rPr>
              <a:t>Semantic reasoning is allowed to propose; it is not allowed to 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2578608" cy="2176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624B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7627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6F65"/>
                </a:solidFill>
                <a:latin typeface="Consolas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8716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80" b="0" i="0">
                <a:solidFill>
                  <a:srgbClr val="14231C"/>
                </a:solidFill>
                <a:latin typeface="Aptos"/>
              </a:rPr>
              <a:t>Bedrock gathers entity, transaction and statutory evidence. It proposes a disposition.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79" y="1755648"/>
            <a:ext cx="2578608" cy="2176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920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624B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17627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6F65"/>
                </a:solidFill>
                <a:latin typeface="Consolas"/>
              </a:rPr>
              <a:t>C# VERIFIER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8716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80" b="0" i="0">
                <a:solidFill>
                  <a:srgbClr val="14231C"/>
                </a:solidFill>
                <a:latin typeface="Aptos"/>
              </a:rPr>
              <a:t>Recomputes every amount and checks 5 deterministic gates. Fail-closed.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55648"/>
            <a:ext cx="2578608" cy="2176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20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624B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17627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6F65"/>
                </a:solidFill>
                <a:latin typeface="Consolas"/>
              </a:rPr>
              <a:t>OVERRIDE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8716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80" b="0" i="0">
                <a:solidFill>
                  <a:srgbClr val="14231C"/>
                </a:solidFill>
                <a:latin typeface="Aptos"/>
              </a:rPr>
              <a:t>If evidence or math disagrees, the verifier forces ESCALATE. The AI proposal is logged.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1755648"/>
            <a:ext cx="2578608" cy="2176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1" y="19202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624B"/>
                </a:solidFill>
                <a:latin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1" y="2176272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6F65"/>
                </a:solidFill>
                <a:latin typeface="Consolas"/>
              </a:rPr>
              <a:t>HUMAN 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1" y="2487168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80" b="0" i="0">
                <a:solidFill>
                  <a:srgbClr val="14231C"/>
                </a:solidFill>
                <a:latin typeface="Aptos"/>
              </a:rPr>
              <a:t>The MLRO signs a SHA-256 receipt with a real P-256 key. The proof is exportable.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24528"/>
            <a:ext cx="10972800" cy="1170432"/>
          </a:xfrm>
          <a:prstGeom prst="roundRect">
            <a:avLst>
              <a:gd name="adj" fmla="val 4000"/>
            </a:avLst>
          </a:prstGeom>
          <a:solidFill>
            <a:srgbClr val="E9F3ED"/>
          </a:solidFill>
          <a:ln w="10160">
            <a:solidFill>
              <a:srgbClr val="CB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4074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DETERMINISTIC 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68172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7624B"/>
                </a:solidFill>
                <a:latin typeface="Consolas"/>
              </a:rPr>
              <a:t>4.9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09320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Consolas"/>
              </a:rPr>
              <a:t>zero LLM tokens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68172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7624B"/>
                </a:solidFill>
                <a:latin typeface="Consolas"/>
              </a:rPr>
              <a:t>72 / 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09320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Consolas"/>
              </a:rPr>
              <a:t>tests 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68172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7624B"/>
                </a:solidFill>
                <a:latin typeface="Consolas"/>
              </a:rPr>
              <a:t>5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09320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Consolas"/>
              </a:rPr>
              <a:t>schema · scope · OCR · math · grounding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46817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7624B"/>
                </a:solidFill>
                <a:latin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50932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Consolas"/>
              </a:rPr>
              <a:t>fabricated legal 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6473952"/>
            <a:ext cx="10972800" cy="9144"/>
          </a:xfrm>
          <a:prstGeom prst="roundRect">
            <a:avLst>
              <a:gd name="adj" fmla="val 4000"/>
            </a:avLst>
          </a:prstGeom>
          <a:solidFill>
            <a:srgbClr val="D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VERITRIAGE · THE FINTECHERS · TRACK 5 AML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52881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03 /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WHO IS 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Aptos"/>
              </a:rPr>
              <a:t>The graph separates mules from victims.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F65"/>
                </a:solidFill>
                <a:latin typeface="Aptos"/>
              </a:rPr>
              <a:t>45 alerts into four roles. The bank can freeze the mule without treating a phished client as the criminal.</a:t>
            </a:r>
          </a:p>
        </p:txBody>
      </p:sp>
      <p:pic>
        <p:nvPicPr>
          <p:cNvPr id="7" name="Picture 6" descr="radar_only.png"/>
          <p:cNvPicPr>
            <a:picLocks noChangeAspect="1"/>
          </p:cNvPicPr>
          <p:nvPr/>
        </p:nvPicPr>
        <p:blipFill>
          <a:blip r:embed="rId2"/>
          <a:srcRect l="2874" r="2874"/>
          <a:stretch>
            <a:fillRect/>
          </a:stretch>
        </p:blipFill>
        <p:spPr>
          <a:xfrm>
            <a:off x="594360" y="1600200"/>
            <a:ext cx="6949440" cy="3977639"/>
          </a:xfrm>
          <a:prstGeom prst="rect">
            <a:avLst/>
          </a:prstGeom>
          <a:ln w="10160">
            <a:solidFill>
              <a:srgbClr val="DFE6E1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818120" y="1600200"/>
            <a:ext cx="3767328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175564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42B2B"/>
                </a:solidFill>
                <a:latin typeface="Consolas"/>
              </a:rPr>
              <a:t>MULE HUBS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199339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4231C"/>
                </a:solidFill>
                <a:latin typeface="Consolas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230428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Aptos"/>
              </a:rPr>
              <a:t>highest shared hub + topology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743200"/>
            <a:ext cx="3767328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289864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A85B0E"/>
                </a:solidFill>
                <a:latin typeface="Consolas"/>
              </a:rPr>
              <a:t>RINGS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13639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4231C"/>
                </a:solidFill>
                <a:latin typeface="Consola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344728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Aptos"/>
              </a:rPr>
              <a:t>cyclic / multi-hop structuring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886200"/>
            <a:ext cx="3767328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404164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B06A0A"/>
                </a:solidFill>
                <a:latin typeface="Consolas"/>
              </a:rPr>
              <a:t>TAKEN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427939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4231C"/>
                </a:solidFill>
                <a:latin typeface="Consolas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59028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Aptos"/>
              </a:rPr>
              <a:t>low/medium tier draining to hubs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074920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HERO: ALERT-045 · R = 0.20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330952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C6F65"/>
                </a:solidFill>
                <a:latin typeface="Consolas"/>
              </a:rPr>
              <a:t>14 isolated periphery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473952"/>
            <a:ext cx="10972800" cy="9144"/>
          </a:xfrm>
          <a:prstGeom prst="roundRect">
            <a:avLst>
              <a:gd name="adj" fmla="val 4000"/>
            </a:avLst>
          </a:prstGeom>
          <a:solidFill>
            <a:srgbClr val="D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VERITRIAGE · THE FINTECHERS · TRACK 5 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2881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04 / MONEY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FOLLOW 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Aptos"/>
              </a:rPr>
              <a:t>Follow the money from the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F65"/>
                </a:solidFill>
                <a:latin typeface="Aptos"/>
              </a:rPr>
              <a:t>A reconstructed money trail, not a single transaction score.</a:t>
            </a:r>
          </a:p>
        </p:txBody>
      </p:sp>
      <p:pic>
        <p:nvPicPr>
          <p:cNvPr id="7" name="Picture 6" descr="money_flow_panel.png"/>
          <p:cNvPicPr>
            <a:picLocks noChangeAspect="1"/>
          </p:cNvPicPr>
          <p:nvPr/>
        </p:nvPicPr>
        <p:blipFill>
          <a:blip r:embed="rId2"/>
          <a:srcRect t="20105" b="20105"/>
          <a:stretch>
            <a:fillRect/>
          </a:stretch>
        </p:blipFill>
        <p:spPr>
          <a:xfrm>
            <a:off x="594360" y="1572768"/>
            <a:ext cx="3840480" cy="4160520"/>
          </a:xfrm>
          <a:prstGeom prst="rect">
            <a:avLst/>
          </a:prstGeom>
          <a:ln w="10160">
            <a:solidFill>
              <a:srgbClr val="DFE6E1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709160" y="1572768"/>
            <a:ext cx="6583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682495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624B"/>
                </a:solidFill>
                <a:latin typeface="Consolas"/>
              </a:rPr>
              <a:t>OUTFLOW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4231C"/>
                </a:solidFill>
                <a:latin typeface="Consolas"/>
              </a:rPr>
              <a:t>301,846 CZK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212848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Aptos"/>
              </a:rPr>
              <a:t>dispersed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670048"/>
            <a:ext cx="6583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779776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624B"/>
                </a:solidFill>
                <a:latin typeface="Consolas"/>
              </a:rPr>
              <a:t>TRANSFERS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0175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4231C"/>
                </a:solidFill>
                <a:latin typeface="Consola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310128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Aptos"/>
              </a:rPr>
              <a:t>reconstructed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767328"/>
            <a:ext cx="658368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877056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7624B"/>
                </a:solidFill>
                <a:latin typeface="Consolas"/>
              </a:rPr>
              <a:t>STRUCTURING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1148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4231C"/>
                </a:solidFill>
                <a:latin typeface="Consolas"/>
              </a:rPr>
              <a:t>5 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407408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F65"/>
                </a:solidFill>
                <a:latin typeface="Aptos"/>
              </a:rPr>
              <a:t>sub-threshold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93776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7624B"/>
                </a:solidFill>
                <a:latin typeface="Aptos"/>
              </a:rPr>
              <a:t>§ 6(1)(b): multi-account structuring.
The trail is the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6473952"/>
            <a:ext cx="10972800" cy="9144"/>
          </a:xfrm>
          <a:prstGeom prst="roundRect">
            <a:avLst>
              <a:gd name="adj" fmla="val 4000"/>
            </a:avLst>
          </a:prstGeom>
          <a:solidFill>
            <a:srgbClr val="D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VERITRIAGE · THE FINTECHERS · TRACK 5 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2881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05 / DEEP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4.9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Aptos"/>
              </a:rPr>
              <a:t>Deep analysis: arithmetic first, tokens never.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F65"/>
                </a:solidFill>
                <a:latin typeface="Aptos"/>
              </a:rPr>
              <a:t>The deterministic engine scans the client history, builds the 5-vector profile and writes a legal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2578608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0195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31C"/>
                </a:solidFill>
                <a:latin typeface="Consolas"/>
              </a:rPr>
              <a:t>397,853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5856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65"/>
                </a:solidFill>
                <a:latin typeface="Consolas"/>
              </a:rPr>
              <a:t>ROWS SCANNED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755648"/>
            <a:ext cx="2578608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90195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31C"/>
                </a:solidFill>
                <a:latin typeface="Consolas"/>
              </a:rPr>
              <a:t>4.9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25856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65"/>
                </a:solidFill>
                <a:latin typeface="Consolas"/>
              </a:rPr>
              <a:t>DEEP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55648"/>
            <a:ext cx="2578608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90195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31C"/>
                </a:solidFill>
                <a:latin typeface="Consolas"/>
              </a:rPr>
              <a:t>1.71x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25856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65"/>
                </a:solidFill>
                <a:latin typeface="Consolas"/>
              </a:rPr>
              <a:t>VELOCITY /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755648"/>
            <a:ext cx="2578608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1" y="1901952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31C"/>
                </a:solidFill>
                <a:latin typeface="Consolas"/>
              </a:rPr>
              <a:t>13 / 95.5k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225856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F65"/>
                </a:solidFill>
                <a:latin typeface="Consolas"/>
              </a:rPr>
              <a:t>72H CZK CLUSTER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08960"/>
            <a:ext cx="10972800" cy="1024128"/>
          </a:xfrm>
          <a:prstGeom prst="roundRect">
            <a:avLst>
              <a:gd name="adj" fmla="val 4000"/>
            </a:avLst>
          </a:prstGeom>
          <a:solidFill>
            <a:srgbClr val="0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2735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FD8B9"/>
                </a:solidFill>
                <a:latin typeface="Consolas"/>
              </a:rPr>
              <a:t>HERO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52958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onsolas"/>
              </a:rPr>
              <a:t>96 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88620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CDE8DA"/>
                </a:solidFill>
                <a:latin typeface="Consolas"/>
              </a:rPr>
              <a:t>B40 + V11 + P25 + S20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529584"/>
            <a:ext cx="7040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1.71x volume · 13 transfers in 72h · HHI 916 · ACZ00005 · 3 linked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877056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CDE8DA"/>
                </a:solidFill>
                <a:latin typeface="Consolas"/>
              </a:rPr>
              <a:t>Every number recomputed in System.Decimal. No LLM in this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9884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624B"/>
                </a:solidFill>
                <a:latin typeface="Consolas"/>
              </a:rPr>
              <a:t>DETERMINISTIC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75488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C6F65"/>
                </a:solidFill>
                <a:latin typeface="Aptos"/>
              </a:rPr>
              <a:t>Markdown + exportable legal dossier. Reproducible, no prompt variance.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49884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624B"/>
                </a:solidFill>
                <a:latin typeface="Consolas"/>
              </a:rPr>
              <a:t>TRACEABLE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75488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C6F65"/>
                </a:solidFill>
                <a:latin typeface="Aptos"/>
              </a:rPr>
              <a:t>Every claim tied to the transaction cluster and statutory clause.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498848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624B"/>
                </a:solidFill>
                <a:latin typeface="Consolas"/>
              </a:rPr>
              <a:t>HUMAN-READY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75488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C6F65"/>
                </a:solidFill>
                <a:latin typeface="Aptos"/>
              </a:rPr>
              <a:t>The MLRO sees the proof, not a black-box score.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6473952"/>
            <a:ext cx="10972800" cy="9144"/>
          </a:xfrm>
          <a:prstGeom prst="roundRect">
            <a:avLst>
              <a:gd name="adj" fmla="val 4000"/>
            </a:avLst>
          </a:prstGeom>
          <a:solidFill>
            <a:srgbClr val="D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VERITRIAGE · THE FINTECHERS · TRACK 5 AML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06 / LEGAL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FAÚ 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4231C"/>
                </a:solidFill>
                <a:latin typeface="Aptos"/>
              </a:rPr>
              <a:t>From alert to a signed FAÚ § 18 dossier.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C6F65"/>
                </a:solidFill>
                <a:latin typeface="Aptos"/>
              </a:rPr>
              <a:t>The output is not a screen. It is a legal artifact a human can sign and a regulator can inspect.</a:t>
            </a:r>
          </a:p>
        </p:txBody>
      </p:sp>
      <p:pic>
        <p:nvPicPr>
          <p:cNvPr id="7" name="Picture 6" descr="dossiers_panel.png"/>
          <p:cNvPicPr>
            <a:picLocks noChangeAspect="1"/>
          </p:cNvPicPr>
          <p:nvPr/>
        </p:nvPicPr>
        <p:blipFill>
          <a:blip r:embed="rId2"/>
          <a:srcRect t="26158" b="26158"/>
          <a:stretch>
            <a:fillRect/>
          </a:stretch>
        </p:blipFill>
        <p:spPr>
          <a:xfrm>
            <a:off x="594360" y="1600200"/>
            <a:ext cx="5806440" cy="3977639"/>
          </a:xfrm>
          <a:prstGeom prst="rect">
            <a:avLst/>
          </a:prstGeom>
          <a:ln w="10160">
            <a:solidFill>
              <a:srgbClr val="DFE6E1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720840" y="1600200"/>
            <a:ext cx="48920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719072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624B"/>
                </a:solidFill>
                <a:latin typeface="Consolas"/>
              </a:rPr>
              <a:t>4-EYES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93852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5C6F65"/>
                </a:solidFill>
                <a:latin typeface="Aptos"/>
              </a:rPr>
              <a:t>Same-person approval returns HTTP 400. Independent MLRO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587752"/>
            <a:ext cx="48920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706624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624B"/>
                </a:solidFill>
                <a:latin typeface="Consolas"/>
              </a:rPr>
              <a:t>SHARED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92608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5C6F65"/>
                </a:solidFill>
                <a:latin typeface="Aptos"/>
              </a:rPr>
              <a:t>PEP + structuring + network role bound to the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575304"/>
            <a:ext cx="48920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69417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624B"/>
                </a:solidFill>
                <a:latin typeface="Consolas"/>
              </a:rPr>
              <a:t>LEGAL MEMO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91363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5C6F65"/>
                </a:solidFill>
                <a:latin typeface="Aptos"/>
              </a:rPr>
              <a:t>§ 6(1)(a), § 6(1)(b), § 9a(2)(c), § 18. Six-section memo.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562856"/>
            <a:ext cx="489204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F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468172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7624B"/>
                </a:solidFill>
                <a:latin typeface="Consolas"/>
              </a:rPr>
              <a:t>NON-REPUDIATION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901184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0" i="0">
                <a:solidFill>
                  <a:srgbClr val="5C6F65"/>
                </a:solidFill>
                <a:latin typeface="Aptos"/>
              </a:rPr>
              <a:t>SHA-256 audit chain + real P-256 dossier signature.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1500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The MLRO signs the decision — not the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6473952"/>
            <a:ext cx="10972800" cy="9144"/>
          </a:xfrm>
          <a:prstGeom prst="roundRect">
            <a:avLst>
              <a:gd name="adj" fmla="val 4000"/>
            </a:avLst>
          </a:prstGeom>
          <a:solidFill>
            <a:srgbClr val="D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VERITRIAGE · THE FINTECHERS · TRACK 5 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2881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83948A"/>
                </a:solidFill>
                <a:latin typeface="Consola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7624B"/>
                </a:solidFill>
                <a:latin typeface="Consolas"/>
              </a:rPr>
              <a:t>07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6576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3948A"/>
                </a:solidFill>
                <a:latin typeface="Consolas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A proof layer the bank
can actually 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9FD8B9"/>
                </a:solidFill>
                <a:latin typeface="Consolas"/>
              </a:rPr>
              <a:t>What is live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79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397,853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9923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DE8DA"/>
                </a:solidFill>
                <a:latin typeface="Consolas"/>
              </a:rPr>
              <a:t>ČNB rows in the full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79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4.9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9923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DE8DA"/>
                </a:solidFill>
                <a:latin typeface="Consolas"/>
              </a:rPr>
              <a:t>deterministic deep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679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72 / 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99923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DE8DA"/>
                </a:solidFill>
                <a:latin typeface="Consolas"/>
              </a:rPr>
              <a:t>tests 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8 / 8 / 15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5935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DE8DA"/>
                </a:solidFill>
                <a:latin typeface="Consolas"/>
              </a:rPr>
              <a:t>mule / ring / taken / isolated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93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5935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DE8DA"/>
                </a:solidFill>
                <a:latin typeface="Consolas"/>
              </a:rPr>
              <a:t>FINREG rows, exact 11-column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6393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P-256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95935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CDE8DA"/>
                </a:solidFill>
                <a:latin typeface="Consolas"/>
              </a:rPr>
              <a:t>real dossier signature + audit 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956048"/>
            <a:ext cx="10972800" cy="1051560"/>
          </a:xfrm>
          <a:prstGeom prst="roundRect">
            <a:avLst>
              <a:gd name="adj" fmla="val 4000"/>
            </a:avLst>
          </a:prstGeom>
          <a:solidFill>
            <a:srgbClr val="103227"/>
          </a:solidFill>
          <a:ln w="10160">
            <a:solidFill>
              <a:srgbClr val="2A5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1389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FD8B9"/>
                </a:solidFill>
                <a:latin typeface="Consolas"/>
              </a:rPr>
              <a:t>THE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376672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Two pilot PSPs + FINREG feedback to move into a pre-production sandbox.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15721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FD8B9"/>
                </a:solidFill>
                <a:latin typeface="Consolas"/>
              </a:rPr>
              <a:t>THE FINTECHERS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39496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Track 5 · 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63270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CDE8DA"/>
                </a:solidFill>
                <a:latin typeface="Consolas"/>
              </a:rPr>
              <a:t>Demo: localhost:3100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19963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FD8B9"/>
                </a:solidFill>
                <a:latin typeface="Consolas"/>
              </a:rPr>
              <a:t>Synthetic ČNB data · Bedrock snapshot fallback is labeled · no live-AWS claim.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19963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FD8B9"/>
                </a:solidFill>
                <a:latin typeface="Consola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